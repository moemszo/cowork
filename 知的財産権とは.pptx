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ＭＳ Ｐゴシック"/>
          <a:ea typeface="ＭＳ Ｐゴシック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ＭＳ Ｐゴシック"/>
          <a:ea typeface="ＭＳ Ｐゴシック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ＭＳ Ｐゴシック"/>
          <a:ea typeface="ＭＳ Ｐゴシック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ＭＳ Ｐゴシック"/>
          <a:ea typeface="ＭＳ Ｐゴシック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ＭＳ Ｐゴシック"/>
          <a:ea typeface="ＭＳ Ｐゴシック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ＭＳ Ｐゴシック"/>
          <a:ea typeface="ＭＳ Ｐゴシック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ＭＳ Ｐゴシック"/>
          <a:ea typeface="ＭＳ Ｐゴシック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ＭＳ Ｐゴシック"/>
          <a:ea typeface="ＭＳ Ｐゴシック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ＭＳ Ｐゴシック"/>
          <a:ea typeface="ＭＳ Ｐゴシック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ＭＳ Ｐゴシック"/>
          <a:ea typeface="ＭＳ Ｐゴシック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ＭＳ Ｐゴシック"/>
          <a:ea typeface="ＭＳ Ｐゴシック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ＭＳ Ｐゴシック"/>
          <a:ea typeface="ＭＳ Ｐゴシック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ＭＳ Ｐゴシック"/>
          <a:ea typeface="ＭＳ Ｐゴシック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ＭＳ Ｐゴシック"/>
          <a:ea typeface="ＭＳ Ｐゴシック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ＭＳ Ｐゴシック"/>
          <a:ea typeface="ＭＳ Ｐゴシック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ＭＳ Ｐゴシック"/>
          <a:ea typeface="ＭＳ Ｐゴシック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ＭＳ Ｐゴシック"/>
          <a:ea typeface="ＭＳ Ｐゴシック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ＭＳ Ｐゴシック"/>
          <a:ea typeface="ＭＳ Ｐゴシック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ＭＳ Ｐゴシック"/>
          <a:ea typeface="ＭＳ Ｐゴシック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知的財産権とは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BBDD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Intellectual Property Rights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DDEE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人が作ったものの利益を保護するための権利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知的財産権とは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35B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人が作ったものの利益を保護するための権利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知的財産権は、創造的な活動によって生み出された成果物に対して、</a:t>
            </a:r>
            <a:br/>
            <a:r>
              <a:rPr lang="ja-JP" dirty="0">
                <a:latin typeface="ＭＳ Ｐゴシック"/>
                <a:ea typeface="ＭＳ Ｐゴシック"/>
              </a:rPr>
              <a:t>その創作者が持つ法的な権利を指します。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基本的な概念の整理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rPr lang="ja-JP" dirty="0">
                          <a:latin typeface="ＭＳ Ｐゴシック"/>
                          <a:ea typeface="ＭＳ Ｐゴシック"/>
                        </a:rPr>
                        <a:t>用語</a:t>
                      </a:r>
                    </a:p>
                  </a:txBody>
                  <a:tcPr anchor="ctr">
                    <a:solidFill>
                      <a:srgbClr val="1A2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rPr lang="ja-JP" dirty="0">
                          <a:latin typeface="ＭＳ Ｐゴシック"/>
                          <a:ea typeface="ＭＳ Ｐゴシック"/>
                        </a:rPr>
                        <a:t>定義</a:t>
                      </a:r>
                    </a:p>
                  </a:txBody>
                  <a:tcPr anchor="ctr">
                    <a:solidFill>
                      <a:srgbClr val="1A235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333333"/>
                          </a:solidFill>
                        </a:defRPr>
                      </a:pPr>
                      <a:r>
                        <a:rPr lang="ja-JP" dirty="0">
                          <a:latin typeface="ＭＳ Ｐゴシック"/>
                          <a:ea typeface="ＭＳ Ｐゴシック"/>
                        </a:rPr>
                        <a:t>知的財産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333333"/>
                          </a:solidFill>
                        </a:defRPr>
                      </a:pPr>
                      <a:r>
                        <a:rPr lang="ja-JP" dirty="0">
                          <a:latin typeface="ＭＳ Ｐゴシック"/>
                          <a:ea typeface="ＭＳ Ｐゴシック"/>
                        </a:rPr>
                        <a:t>人が作ったものを保護するためのもの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333333"/>
                          </a:solidFill>
                        </a:defRPr>
                      </a:pPr>
                      <a:r>
                        <a:rPr lang="ja-JP" dirty="0">
                          <a:latin typeface="ＭＳ Ｐゴシック"/>
                          <a:ea typeface="ＭＳ Ｐゴシック"/>
                        </a:rPr>
                        <a:t>財産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333333"/>
                          </a:solidFill>
                        </a:defRPr>
                      </a:pPr>
                      <a:r>
                        <a:rPr lang="ja-JP" dirty="0">
                          <a:latin typeface="ＭＳ Ｐゴシック"/>
                          <a:ea typeface="ＭＳ Ｐゴシック"/>
                        </a:rPr>
                        <a:t>経済的に価値ある創造物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333333"/>
                          </a:solidFill>
                        </a:defRPr>
                      </a:pPr>
                      <a:r>
                        <a:rPr lang="ja-JP" dirty="0">
                          <a:latin typeface="ＭＳ Ｐゴシック"/>
                          <a:ea typeface="ＭＳ Ｐゴシック"/>
                        </a:rPr>
                        <a:t>財産権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333333"/>
                          </a:solidFill>
                        </a:defRPr>
                      </a:pPr>
                      <a:r>
                        <a:rPr lang="ja-JP" dirty="0">
                          <a:latin typeface="ＭＳ Ｐゴシック"/>
                          <a:ea typeface="ＭＳ Ｐゴシック"/>
                        </a:rPr>
                        <a:t>経済的な利益を得る権利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なぜ知的財産権が必要なのか？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DDEE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もし知的財産権がなかったら...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知的財産権がない場合の問題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0392B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問題点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392B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✕  自分が作ったものを無断で使用される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392B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✕  創作者が不利益を被る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392B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✕  創作意欲の低下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8055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392B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✕  技術革新の停滞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35B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7432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創作者が報われない社会になり、</a:t>
            </a:r>
            <a:br/>
            <a:r>
              <a:rPr lang="ja-JP" dirty="0">
                <a:latin typeface="ＭＳ Ｐゴシック"/>
                <a:ea typeface="ＭＳ Ｐゴシック"/>
              </a:rPr>
              <a:t>新しいアイデアや技術が</a:t>
            </a:r>
            <a:br/>
            <a:r>
              <a:rPr lang="ja-JP" dirty="0">
                <a:latin typeface="ＭＳ Ｐゴシック"/>
                <a:ea typeface="ＭＳ Ｐゴシック"/>
              </a:rPr>
              <a:t>生まれにくくなる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知的財産権がある場合の効果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🛡  法律による保護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自分が作ったものが法的に守られる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337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💰  経済的な利益の発生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創作活動が正当に評価され、収益を得られる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754880"/>
            <a:ext cx="1033272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🌍  社会に公開する意義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安心して自分の創作物を世の中に公開できる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知的財産権の3つの役割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20040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57400" y="2103120"/>
            <a:ext cx="914400" cy="914400"/>
          </a:xfrm>
          <a:prstGeom prst="ellipse">
            <a:avLst/>
          </a:prstGeom>
          <a:solidFill>
            <a:srgbClr val="2D5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3600" b="1">
                <a:solidFill>
                  <a:srgbClr val="FFFFFF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5FCE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保護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創作者の権利を法律で守る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320040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15000" y="2103120"/>
            <a:ext cx="914400" cy="9144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3600" b="1">
                <a:solidFill>
                  <a:srgbClr val="FFFFFF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利益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9319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経済的な価値を創作者に還元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20040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72600" y="2103120"/>
            <a:ext cx="914400" cy="9144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3600" b="1">
                <a:solidFill>
                  <a:srgbClr val="FFFFFF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公開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9319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社会全体の発展に貢献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DDEE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▶  創作者の権利を守り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DDEE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▶  経済的な利益を保証することで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DDEE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▶  社会の発展を促進する重要な制度です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ABBDD"/>
                </a:solidFill>
              </a:defRPr>
            </a:pPr>
            <a:r>
              <a:rPr lang="ja-JP" dirty="0">
                <a:latin typeface="ＭＳ Ｐゴシック"/>
                <a:ea typeface="ＭＳ Ｐゴシック"/>
              </a:rPr>
              <a:t>質問はありますか？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ＭＳ Ｐゴシック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ＭＳ Ｐゴシック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